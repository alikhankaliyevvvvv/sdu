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60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27432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27432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0" y="27432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0" y="27432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59436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0" y="59436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0" y="59436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78240" y="59436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80960" y="91440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0" y="91440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0" y="914400"/>
            <a:ext cx="128016" cy="128016"/>
          </a:xfrm>
          <a:prstGeom prst="ellipse">
            <a:avLst/>
          </a:prstGeom>
          <a:solidFill>
            <a:srgbClr val="0FA3B1">
              <a:alpha val="45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FA3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Insurance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15544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Statistics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Project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Medical Cost Personal Dataset  |  ~1,300 records · 7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2740" y="3874401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Descriptive Stats · Probability · CI · Hypothesis Testing · Effect Size · Correlation · Regression</a:t>
            </a:r>
            <a:endParaRPr lang="en-US" sz="1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0AFA512-CF84-BE0F-3517-EC52768892CC}"/>
              </a:ext>
            </a:extLst>
          </p:cNvPr>
          <p:cNvSpPr/>
          <p:nvPr/>
        </p:nvSpPr>
        <p:spPr>
          <a:xfrm>
            <a:off x="548640" y="445696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development, Documentation, Visualization</a:t>
            </a:r>
            <a:r>
              <a:rPr lang="en-US" sz="12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Presentation: </a:t>
            </a: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Kaliyev Alikhan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Dataset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474720" cy="36576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– Medical Cost Personal Datasets
</a:t>
            </a: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~1,300 insurance clients
</a:t>
            </a: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columns (4 numerical, 3 categorical)
</a:t>
            </a: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insurance data including demographics, lifestyle, and annual medical charges billed to clients.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73152" cy="694944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91456" y="1014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91456" y="12893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Client's age (adults 18+)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28216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728216"/>
            <a:ext cx="73152" cy="69494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91456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91456" y="2057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– balanced split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496312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73152" cy="694944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91456" y="2551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28254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 Index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264408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264408"/>
            <a:ext cx="73152" cy="694944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91456" y="3319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children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3593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dependents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960120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12280" y="960120"/>
            <a:ext cx="73152" cy="69494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0296" y="1014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0296" y="12893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are smokers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12280" y="1728216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12280" y="1728216"/>
            <a:ext cx="73152" cy="69494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0296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0296" y="2057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 regions – even split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12280" y="2496312"/>
            <a:ext cx="2011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12280" y="2496312"/>
            <a:ext cx="73152" cy="694944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40296" y="2551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0296" y="28254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insurance charge ($)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4087368"/>
            <a:ext cx="164592" cy="164592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4059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4087368"/>
            <a:ext cx="164592" cy="16459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63640" y="40599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7315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Smoking = Biggest Cost Driver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pay dramatically more than non-smokers. The difference is both statistically significant (p ≈ 0) and practically significant (Cohen's d &gt; 0.8). This is the #1 predictor in the dataset.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206240" cy="73152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Age Positively Correlates with Charges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meaningful Pearson correlation found: age vs charges (~0.3). Older clients are charged more </a:t>
            </a:r>
            <a:r>
              <a:rPr lang="ru-RU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though smoking status explains much of the variance within age groups.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062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99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Gender Difference: Statistically Real, Practically Tiny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t-test shows a statistically significant difference between male and female charges, but Cohen's d &lt; 0.2 </a:t>
            </a:r>
            <a:r>
              <a:rPr lang="ru-RU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meaning the effect is negligible in practice. Gender is not an impactful predictor.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206240" cy="73152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999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Smoker Age Gap Is Just Noise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3832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and non-smokers are separated by less than 1 year in average age. Hypothesis testing confirmed this is due to random noise </a:t>
            </a:r>
            <a:r>
              <a:rPr lang="ru-RU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real age difference between groups.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42062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06240" cy="73152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  –  Predicting Charges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28016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7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0.75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1417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75% of variance in charges.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25% is noise / region effects.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Coefficients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249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00200" y="2788920"/>
            <a:ext cx="1828800" cy="201168"/>
          </a:xfrm>
          <a:prstGeom prst="rect">
            <a:avLst/>
          </a:prstGeom>
          <a:solidFill>
            <a:srgbClr val="0FA3B1">
              <a:alpha val="80000"/>
            </a:srgbClr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27249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+$23,848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638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00200" y="3227832"/>
            <a:ext cx="512064" cy="201168"/>
          </a:xfrm>
          <a:prstGeom prst="rect">
            <a:avLst/>
          </a:prstGeom>
          <a:solidFill>
            <a:srgbClr val="5A67D8">
              <a:alpha val="80000"/>
            </a:srgbClr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57984" y="31638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+$257/yr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027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00200" y="3666744"/>
            <a:ext cx="640080" cy="201168"/>
          </a:xfrm>
          <a:prstGeom prst="rect">
            <a:avLst/>
          </a:prstGeom>
          <a:solidFill>
            <a:srgbClr val="48BB78">
              <a:alpha val="80000"/>
            </a:srgbClr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0" y="36027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+$339/pt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00200" y="4105656"/>
            <a:ext cx="548640" cy="201168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94560" y="4041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+$476/child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896112"/>
            <a:ext cx="42062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896112"/>
            <a:ext cx="4206240" cy="7315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 –  Predicting Smoking Status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1463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828800"/>
            <a:ext cx="3977640" cy="502920"/>
          </a:xfrm>
          <a:prstGeom prst="rect">
            <a:avLst/>
          </a:prstGeom>
          <a:solidFill>
            <a:srgbClr val="5A67D8">
              <a:alpha val="12000"/>
            </a:srgbClr>
          </a:solidFill>
          <a:ln w="12700">
            <a:solidFill>
              <a:srgbClr val="5A67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1828800"/>
            <a:ext cx="73152" cy="502920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9472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6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2084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7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95.7%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80960" y="1920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7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2423160"/>
            <a:ext cx="3977640" cy="502920"/>
          </a:xfrm>
          <a:prstGeom prst="rect">
            <a:avLst/>
          </a:prstGeom>
          <a:solidFill>
            <a:srgbClr val="0FA3B1">
              <a:alpha val="12000"/>
            </a:srgbClr>
          </a:solidFill>
          <a:ln w="12700">
            <a:solidFill>
              <a:srgbClr val="0FA3B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2423160"/>
            <a:ext cx="73152" cy="5029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9472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2084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3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96.6%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680960" y="2514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3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46320" y="3090672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out of 1,000 clients,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 smoking predictions are correct.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outperforms due to non-linearity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real-world patterns </a:t>
            </a:r>
            <a:r>
              <a:rPr lang="ru-RU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forest handles chaos better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linear boundaries.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754880" y="3017520"/>
            <a:ext cx="39776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229600" cy="457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40690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FA3B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106984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A3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99032" y="10698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Smoking Status Is Everything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" y="1581912"/>
            <a:ext cx="3657600" cy="0"/>
          </a:xfrm>
          <a:prstGeom prst="line">
            <a:avLst/>
          </a:prstGeom>
          <a:noFill/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67335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for smoker vs non-smoker charges is &gt; 0.8 (large effect). Smoking alone accounts for the dominant portion of charge variance </a:t>
            </a:r>
            <a:r>
              <a:rPr lang="ru-RU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insurance pricing model must treat it as the primary variable.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0690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FA3B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06984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A3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42432" y="10698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Is a Statistical Red Herring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10912" y="1581912"/>
            <a:ext cx="3657600" cy="0"/>
          </a:xfrm>
          <a:prstGeom prst="line">
            <a:avLst/>
          </a:prstGeom>
          <a:noFill/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10912" y="167335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 t-test detects a real difference between male/female charges, Cohen's d &lt; 0.2 shows it's practically meaningless. Statistical significance ≠ practical significance </a:t>
            </a:r>
            <a:r>
              <a:rPr lang="ru-RU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key takeaway.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40690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FA3B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" y="29900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A3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99032" y="29900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Matters, But Through Smoking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" y="3502152"/>
            <a:ext cx="3657600" cy="0"/>
          </a:xfrm>
          <a:prstGeom prst="line">
            <a:avLst/>
          </a:prstGeom>
          <a:noFill/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5935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Age-charge correlation (~0.3–0.5) is moderate, but within age groups the mean charge is driven mostly by the % of smokers in that group </a:t>
            </a:r>
            <a:r>
              <a:rPr lang="ru-RU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age itself.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40690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FA3B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10912" y="29900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A3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42432" y="29900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Non-Linearity Wins in Classification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10912" y="3502152"/>
            <a:ext cx="3657600" cy="0"/>
          </a:xfrm>
          <a:prstGeom prst="line">
            <a:avLst/>
          </a:prstGeom>
          <a:noFill/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10912" y="35935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outperforms Logistic Regression because real insurance data is not linearly separable. This mirrors real-world ML practice: ensemble methods often edge out linear models on tabular data.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solidFill>
            <a:srgbClr val="0FA3B1">
              <a:alpha val="12000"/>
            </a:srgbClr>
          </a:solidFill>
          <a:ln w="12700">
            <a:solidFill>
              <a:srgbClr val="0FA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applied a full statistical pipeline </a:t>
            </a:r>
            <a:r>
              <a:rPr lang="ru-RU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descriptive analysis and probability to hypothesis testing, regression, and model validation </a:t>
            </a:r>
            <a:r>
              <a:rPr lang="ru-RU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real-world medical insurance data. The results consistently point to smoking status as the dominant cost driver, with a linear regression model achieving R² = 0.75 and a logistic classifier reaching 95.7% accuracy (96.6% with Random Forest).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status is the single most impactful predictor of insurance charges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3580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0358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must always be paired with effect size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5701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55701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explained 75% of charge variance across 5 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0782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outperformed Logistic Regression — real data is non-linear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3"/>
          </a:solidFill>
          <a:ln w="12700">
            <a:solidFill>
              <a:srgbClr val="0D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Statistics Final Project  ·  Medical Cost Personal Dataset  ·  Kaggle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690</Words>
  <Application>Microsoft Office PowerPoint</Application>
  <PresentationFormat>On-screen Show (16:9)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Dataset – Descriptive Statistics Final Project</dc:title>
  <dc:subject>PptxGenJS Presentation</dc:subject>
  <dc:creator>PptxGenJS</dc:creator>
  <cp:lastModifiedBy>Алихан Калиев</cp:lastModifiedBy>
  <cp:revision>3</cp:revision>
  <dcterms:created xsi:type="dcterms:W3CDTF">2026-05-03T17:06:59Z</dcterms:created>
  <dcterms:modified xsi:type="dcterms:W3CDTF">2026-05-03T17:12:09Z</dcterms:modified>
</cp:coreProperties>
</file>